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4342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47472" y="0"/>
            <a:ext cx="91440" cy="5143500"/>
          </a:xfrm>
          <a:prstGeom prst="rect">
            <a:avLst/>
          </a:prstGeom>
          <a:solidFill>
            <a:srgbClr val="D97706">
              <a:alpha val="4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8912" y="0"/>
            <a:ext cx="8705088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58368" y="201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ROINET INSURANCE BROKERS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594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InsureOne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Platform Blueprint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58368" y="2514600"/>
            <a:ext cx="5303520" cy="36576"/>
          </a:xfrm>
          <a:prstGeom prst="rect">
            <a:avLst/>
          </a:prstGeom>
          <a:solidFill>
            <a:srgbClr val="14B8A6">
              <a:alpha val="6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8368" y="265176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one-stop post-purchase insurance experience — policy management, AI-powered claims, family planning, wealth tracking, loans, and a complete value ecosystem.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35478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58368" y="4169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15768" y="35478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715768" y="4169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73168" y="35478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773168" y="4169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30568" y="35478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AA+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830568" y="4169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Bima Sugam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4754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·  Confidential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0" y="182880"/>
            <a:ext cx="2560320" cy="2560320"/>
          </a:xfrm>
          <a:prstGeom prst="ellipse">
            <a:avLst/>
          </a:prstGeom>
          <a:solidFill>
            <a:srgbClr val="F59E0B">
              <a:alpha val="9000"/>
            </a:srgbClr>
          </a:solidFill>
          <a:ln w="19050">
            <a:solidFill>
              <a:srgbClr val="F59E0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498080" y="1005840"/>
            <a:ext cx="1828800" cy="1828800"/>
          </a:xfrm>
          <a:prstGeom prst="ellipse">
            <a:avLst/>
          </a:prstGeom>
          <a:solidFill>
            <a:srgbClr val="14B8A6">
              <a:alpha val="8000"/>
            </a:srgbClr>
          </a:solidFill>
          <a:ln w="12700">
            <a:solidFill>
              <a:srgbClr val="14B8A6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046720" y="1828800"/>
            <a:ext cx="1097280" cy="109728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Insurance is broken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the sale.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743200" cy="2395728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4864" cy="2395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56816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97864" y="197510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Policies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0936" y="2450592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juggle 4–6 insurers, apps, and email inboxes just to know what they're covered for. No single view exists.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1828800"/>
            <a:ext cx="2743200" cy="2395728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383280" y="1828800"/>
            <a:ext cx="54864" cy="2395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956816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78224" y="197510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= Anxiety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11296" y="2450592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average: 20+ minutes to file a claim, then days of silence. No real-time tracking, no proactive updates.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63640" y="1828800"/>
            <a:ext cx="2743200" cy="2395728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263640" y="1828800"/>
            <a:ext cx="54864" cy="2395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956816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58584" y="197510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Advisory Relationship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91656" y="2450592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policy is sold, the relationship ends. No family planning, no coverage gaps identified, no proactive advice.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02920" y="4352544"/>
            <a:ext cx="8229600" cy="621792"/>
          </a:xfrm>
          <a:prstGeom prst="rect">
            <a:avLst/>
          </a:prstGeom>
          <a:solidFill>
            <a:srgbClr val="12201A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502920" y="4352544"/>
            <a:ext cx="54864" cy="6217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658368" y="44074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ROINET'S UNIQUE POSITION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58368" y="460857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licensed broker with multi-insurer access, Roinet can build what no direct insurer or aggregator can: a personalised lifelong protection relationship with advisory, wealth services, and concierge support.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InsureOne — What It Does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app. Every policy. All insurers. Claims in 60 seconds. Wealth tracking. Loans. Daily utility.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4133088" cy="877824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4864" cy="87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15798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201168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Policy Wallet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06424" y="232257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policies across all insurers — health, motor, life, travel — one dashboard, digital docs, Bima Sugam e-IA linked.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92040" y="1920240"/>
            <a:ext cx="4133088" cy="877824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892040" y="1920240"/>
            <a:ext cx="54864" cy="87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215798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95544" y="201168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Claims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95544" y="232257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pre-fill, self-video damage CV model, cashless garage/hospital finder, live tracker with ETA at every step.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2907792"/>
            <a:ext cx="4133088" cy="877824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502920" y="2907792"/>
            <a:ext cx="54864" cy="87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3145536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06424" y="29992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&amp; Investments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06424" y="33101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&amp; equity portfolio tracking, P&amp;L dashboard, integrated trading platform access — all alongside insurance.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892040" y="2907792"/>
            <a:ext cx="4133088" cy="877824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4892040" y="2907792"/>
            <a:ext cx="54864" cy="87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344" y="3145536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95544" y="299923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&amp; Credit Portal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495544" y="33101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personal &amp; car loans, credit cards, loan against premium, EMI-based premium financing — one marketplace.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02920" y="3895344"/>
            <a:ext cx="4133088" cy="877824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502920" y="3895344"/>
            <a:ext cx="54864" cy="87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4133088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06424" y="398678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Protection Plan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106424" y="429768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Strategic Insurance Plan (PSIP): holistic, advisor-led, family coverage map, life event triggered.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892040" y="3895344"/>
            <a:ext cx="4133088" cy="877824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4892040" y="3895344"/>
            <a:ext cx="54864" cy="87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8344" y="4133088"/>
            <a:ext cx="329184" cy="32918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495544" y="398678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FAQ &amp; Education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5495544" y="429768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Jargon-free guides on claims, policies, premiums, IRDAI rules — building confident, informed customers.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Bima Sugam — The New Insurance Rail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IRDAI's 'UPI for Insurance' launched September 2025. Every Indian policyholder now has a government-backed e-Insurance Account.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47088"/>
            <a:ext cx="3931920" cy="2670048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58368" y="19568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Bima Sugam Offers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2377440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41248" y="2340864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e-Insurance Account (e-IA) linked to Aadhaar / PAN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279806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41248" y="2761488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policies in one government portal — zero commission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321868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41248" y="3182112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comparison, purchase &amp; renewal across all insurers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3639312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41248" y="3602736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intimation (Phase 2, 2026)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4059936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41248" y="4023360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· DPDP Act 2023 · Bima Pehchaan ID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45152" y="1847088"/>
            <a:ext cx="4114800" cy="2670048"/>
          </a:xfrm>
          <a:prstGeom prst="rect">
            <a:avLst/>
          </a:prstGeom>
          <a:solidFill>
            <a:srgbClr val="141F17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645152" y="1847088"/>
            <a:ext cx="54864" cy="2670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09744" y="19568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Roinet's Strategy: Integrate &amp; Surpass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09744" y="237744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92624" y="2340864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Bima Sugam as a data rail — auto-import all policies via e-IA API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09744" y="279806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992624" y="2761488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UX, advisory, wealth &amp; concierge that the neutral govt portal never will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09744" y="321868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92624" y="3182112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login preserves customer tagging, commissions &amp; relationship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09744" y="363931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92624" y="3602736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InsureOne sits above Bima Sugam — visible superiority justifies loyalty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09744" y="405993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92624" y="4023360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commercial use case expected May 2026 — integrate now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" y="4645152"/>
            <a:ext cx="8229600" cy="384048"/>
          </a:xfrm>
          <a:prstGeom prst="rect">
            <a:avLst/>
          </a:prstGeom>
          <a:solidFill>
            <a:srgbClr val="1A1428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0080" y="47000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Bima Sugam is the competitive floor. InsureOne must be visibly, demonstrably better — or customers have no reason to stay loyal to Roinet.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Roinet vs. Acko vs. Policybazaar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8229600" cy="365760"/>
          </a:xfrm>
          <a:prstGeom prst="rect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03504" y="15453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50592" y="1545336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Roinet InsureOne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28032" y="15453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154533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Policybazaar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99248" y="15453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Bima Sugam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847088"/>
            <a:ext cx="8229600" cy="329184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3504" y="19019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policies (multi-insurer)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50592" y="1901952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broker wallet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28032" y="1901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Acko only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309360" y="190195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Multi-insurer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699248" y="19019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e-IA linked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03504" y="2231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 AI claim filing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50592" y="223113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pre-fill + CV model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28032" y="22311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Photo upload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309360" y="223113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Self-video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699248" y="22311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Phase 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2505456"/>
            <a:ext cx="8229600" cy="329184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03504" y="256032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claim tracker + ETA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50592" y="2560320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Step-by-step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28032" y="25603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09360" y="256032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699248" y="25603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Phase 2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03504" y="288950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&amp; equity tracking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50592" y="288950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MF + equity + trading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28032" y="28895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09360" y="288950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Basic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699248" y="28895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2920" y="3163824"/>
            <a:ext cx="8229600" cy="329184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03504" y="32186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&amp; credit portal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50592" y="321868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Home, personal, card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28032" y="32186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09360" y="321868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PBFintech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699248" y="32186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03504" y="35478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against premium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450592" y="3547872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Unique feature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28032" y="3547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09360" y="354787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699248" y="3547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02920" y="3822192"/>
            <a:ext cx="8229600" cy="329184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03504" y="387705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concierge / RM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450592" y="387705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Tier A (named)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28032" y="38770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09360" y="387705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ADP (motor)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699248" y="38770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03504" y="42062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PSIP advisor plan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450592" y="4206240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Unique feature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828032" y="42062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309360" y="420624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699248" y="42062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02920" y="4480560"/>
            <a:ext cx="8229600" cy="329184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03504" y="453542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FAQ &amp; education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450592" y="453542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In-app library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828032" y="45354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Basic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309360" y="453542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Blog/guides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699248" y="45354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03504" y="486460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utility (FASTag etc.)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450592" y="486460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vehicle hub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828032" y="48646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Best-in-class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309360" y="486460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699248" y="48646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02920" y="47914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Full  ~ = Partial  ✗ = Not available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MODULES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Core Modules at a Glance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2761488" cy="107899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54864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9224" y="182880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Policy (KYP)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" y="212140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plain-language summaries + 'Ask Your Policy' chatbot trained on actual policy wordings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29000" y="1481328"/>
            <a:ext cx="2761488" cy="107899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29000" y="1481328"/>
            <a:ext cx="54864" cy="10789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75304" y="153619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75304" y="182880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Ecosystem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75304" y="212140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FASTag, RTO challan, travel portal, e-governance, health hub — daily-use utility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55080" y="1481328"/>
            <a:ext cx="2761488" cy="107899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355080" y="1481328"/>
            <a:ext cx="54864" cy="10789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01384" y="153619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01384" y="182880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Advisory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01384" y="212140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briefs, IRDAI alerts, WhatsApp CRM, year-ahead planning worksheet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2670048"/>
            <a:ext cx="2761488" cy="107899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2920" y="2670048"/>
            <a:ext cx="54864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9224" y="272491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9224" y="301752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PSIP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" y="33101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Holistic, advisor-led protection plan — family coverage map, life events, annual review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29000" y="2670048"/>
            <a:ext cx="2761488" cy="107899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429000" y="2670048"/>
            <a:ext cx="54864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575304" y="272491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575304" y="301752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Perks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75304" y="33101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Milestone-based loyalty — renewals, upgrades, referrals, events, airport lounge access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55080" y="2670048"/>
            <a:ext cx="2761488" cy="107899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355080" y="2670048"/>
            <a:ext cx="54864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501384" y="272491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501384" y="301752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Concierge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01384" y="33101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RM for Tier A + 24/7 AI voice bot (Hindi + English) + callback scheduling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3858768"/>
            <a:ext cx="2761488" cy="107899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2920" y="3858768"/>
            <a:ext cx="54864" cy="10789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49224" y="391363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49224" y="420624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&amp; Self-Service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9224" y="449884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filing, self-video motor claims, cashless finder, live tracker, document vault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29000" y="3858768"/>
            <a:ext cx="2761488" cy="107899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3429000" y="3858768"/>
            <a:ext cx="54864" cy="10789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575304" y="391363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3575304" y="420624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Wealth &amp; Loans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575304" y="449884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financial dashboard, MF/equity tracking, trading access, loans portal, loan against premium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55080" y="3858768"/>
            <a:ext cx="2761488" cy="107899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355080" y="3858768"/>
            <a:ext cx="54864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501384" y="391363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501384" y="420624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Bima Sugam &amp; FAQ Hub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501384" y="449884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e-IA linking, IRDAI compliance, insurance education library — building informed customers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INTELLIGENCE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Layer That Powers Everything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AI capabilities running under the hood — chatbots, computer vision, propensity models, fraud detection.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01952"/>
            <a:ext cx="2029968" cy="1280160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901952"/>
            <a:ext cx="2029968" cy="4389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02996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" y="2468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Policy Chatbot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2648" y="277977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real policy wordings. Answers 'Is my knee surgery covered?' with source citation.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679192" y="1901952"/>
            <a:ext cx="2029968" cy="1280160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679192" y="1901952"/>
            <a:ext cx="2029968" cy="4389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208" y="202996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88920" y="2468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Claim Pre-Fill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788920" y="277977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reads incident description, auto-fills form. Files in 60s vs. 20+ min industry average.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855464" y="1901952"/>
            <a:ext cx="2029968" cy="1280160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4855464" y="1901952"/>
            <a:ext cx="2029968" cy="4389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02996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65192" y="2468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Damage Assessment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965192" y="277977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Self-video analysed by computer vision. Auto-routes: fast-track (&lt;₹25K) or physical surveyor.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031736" y="1901952"/>
            <a:ext cx="2029968" cy="1280160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7031736" y="1901952"/>
            <a:ext cx="2029968" cy="4389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9752" y="2029968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41464" y="24688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 Recommender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141464" y="277977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uninsured assets with cost estimates. Direct quote CTA. Drives non-pushy cross-sell.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02920" y="3328416"/>
            <a:ext cx="2029968" cy="1280160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502920" y="3328416"/>
            <a:ext cx="2029968" cy="4389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" y="3456432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12648" y="389534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Propensity Model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612648" y="420624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scores lapse risk 30 days before renewal, triggering personalised retention offers.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2679192" y="3328416"/>
            <a:ext cx="2029968" cy="1280160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2679192" y="3328416"/>
            <a:ext cx="2029968" cy="4389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7208" y="3456432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788920" y="389534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Signal Detection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2788920" y="420624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scoring on claims — routes high-risk cases for enhanced review before settlement.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4855464" y="3328416"/>
            <a:ext cx="2029968" cy="1280160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29"/>
          <p:cNvSpPr/>
          <p:nvPr/>
        </p:nvSpPr>
        <p:spPr>
          <a:xfrm>
            <a:off x="4855464" y="3328416"/>
            <a:ext cx="2029968" cy="4389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3456432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965192" y="389534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 Analyser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4965192" y="420624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PDF — even competitor policies. AI produces KYP summary and surfaces better alternatives.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7031736" y="3328416"/>
            <a:ext cx="2029968" cy="1280160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3"/>
          <p:cNvSpPr/>
          <p:nvPr/>
        </p:nvSpPr>
        <p:spPr>
          <a:xfrm>
            <a:off x="7031736" y="3328416"/>
            <a:ext cx="2029968" cy="4389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9752" y="3456432"/>
            <a:ext cx="347472" cy="34747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7141464" y="389534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Event Detection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7141464" y="420624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AA consent, detects major life events (new EMI, vehicle reg) and triggers coverage reviews.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VALUE-ADDED FEATURES  (1 OF 3)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Utility — Vehicle, Health &amp; Travel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that bring customers back weekly, not just at renewal. Keeping InsureOne front-of-mind every day.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2761488" cy="3035808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761488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97510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993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Hub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7512" y="2468880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32104" y="243230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FASTag balance check &amp; instant recharge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67512" y="279806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32104" y="276148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challan check &amp; payment (no extra charges)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67512" y="312724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32104" y="309067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 certificate status &amp; renewal reminder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67512" y="3456432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832104" y="341985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resale value estimator (live market data)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67512" y="3785616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2104" y="374904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charger finder (GPS-based)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67512" y="4114800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832104" y="407822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Roadside assistance one-tap call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67512" y="444398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832104" y="440740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due reminder + garage booking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410712" y="1874520"/>
            <a:ext cx="2761488" cy="3035808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3410712" y="1874520"/>
            <a:ext cx="2761488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1975104"/>
            <a:ext cx="347472" cy="34747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014216" y="1993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Hub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3575304" y="24688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3739896" y="243230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health check-up benefit booking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3575304" y="279806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3739896" y="276148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Doctor-on-call (teleconsultation) via policy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3575304" y="312724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3739896" y="309067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Cashless hospital GPS finder + pre-auth initiation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3575304" y="345643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3739896" y="341985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discount card (network pharmacies)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3575304" y="378561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3"/>
          <p:cNvSpPr/>
          <p:nvPr/>
        </p:nvSpPr>
        <p:spPr>
          <a:xfrm>
            <a:off x="3739896" y="374904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vault: reports, lab results, prescriptions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3575304" y="41148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3739896" y="407822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Maternity milestone planner &amp; reminders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3575304" y="444398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7"/>
          <p:cNvSpPr/>
          <p:nvPr/>
        </p:nvSpPr>
        <p:spPr>
          <a:xfrm>
            <a:off x="3739896" y="440740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wellness resources (EAP tie-up)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6318504" y="1874520"/>
            <a:ext cx="2761488" cy="3035808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39"/>
          <p:cNvSpPr/>
          <p:nvPr/>
        </p:nvSpPr>
        <p:spPr>
          <a:xfrm>
            <a:off x="6318504" y="1874520"/>
            <a:ext cx="2761488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1975104"/>
            <a:ext cx="347472" cy="347472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922008" y="1993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Portal</a:t>
            </a:r>
            <a:endParaRPr lang="en-US" sz="1400" dirty="0"/>
          </a:p>
        </p:txBody>
      </p:sp>
      <p:sp>
        <p:nvSpPr>
          <p:cNvPr id="46" name="Shape 41"/>
          <p:cNvSpPr/>
          <p:nvPr/>
        </p:nvSpPr>
        <p:spPr>
          <a:xfrm>
            <a:off x="6483096" y="2468880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2"/>
          <p:cNvSpPr/>
          <p:nvPr/>
        </p:nvSpPr>
        <p:spPr>
          <a:xfrm>
            <a:off x="6647688" y="243230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 + hotels with bundled travel insurance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6483096" y="279806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4"/>
          <p:cNvSpPr/>
          <p:nvPr/>
        </p:nvSpPr>
        <p:spPr>
          <a:xfrm>
            <a:off x="6647688" y="276148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Visa-compliant cover (Schengen, US, UK)</a:t>
            </a:r>
            <a:endParaRPr lang="en-US" sz="1050" dirty="0"/>
          </a:p>
        </p:txBody>
      </p:sp>
      <p:sp>
        <p:nvSpPr>
          <p:cNvPr id="50" name="Shape 45"/>
          <p:cNvSpPr/>
          <p:nvPr/>
        </p:nvSpPr>
        <p:spPr>
          <a:xfrm>
            <a:off x="6483096" y="3127248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6"/>
          <p:cNvSpPr/>
          <p:nvPr/>
        </p:nvSpPr>
        <p:spPr>
          <a:xfrm>
            <a:off x="6647688" y="309067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Forex card rates &amp; currency calculator</a:t>
            </a:r>
            <a:endParaRPr lang="en-US" sz="1050" dirty="0"/>
          </a:p>
        </p:txBody>
      </p:sp>
      <p:sp>
        <p:nvSpPr>
          <p:cNvPr id="52" name="Shape 47"/>
          <p:cNvSpPr/>
          <p:nvPr/>
        </p:nvSpPr>
        <p:spPr>
          <a:xfrm>
            <a:off x="6483096" y="3456432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48"/>
          <p:cNvSpPr/>
          <p:nvPr/>
        </p:nvSpPr>
        <p:spPr>
          <a:xfrm>
            <a:off x="6647688" y="341985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travel assistance (24/7 helpline)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6483096" y="3785616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0"/>
          <p:cNvSpPr/>
          <p:nvPr/>
        </p:nvSpPr>
        <p:spPr>
          <a:xfrm>
            <a:off x="6647688" y="374904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document wallet (passport, visa, itinerary)</a:t>
            </a:r>
            <a:endParaRPr lang="en-US" sz="1050" dirty="0"/>
          </a:p>
        </p:txBody>
      </p:sp>
      <p:sp>
        <p:nvSpPr>
          <p:cNvPr id="56" name="Shape 51"/>
          <p:cNvSpPr/>
          <p:nvPr/>
        </p:nvSpPr>
        <p:spPr>
          <a:xfrm>
            <a:off x="6483096" y="4114800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2"/>
          <p:cNvSpPr/>
          <p:nvPr/>
        </p:nvSpPr>
        <p:spPr>
          <a:xfrm>
            <a:off x="6647688" y="407822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Baggage delay tracker + auto-claim trigger</a:t>
            </a:r>
            <a:endParaRPr lang="en-US" sz="1050" dirty="0"/>
          </a:p>
        </p:txBody>
      </p:sp>
      <p:sp>
        <p:nvSpPr>
          <p:cNvPr id="58" name="Shape 53"/>
          <p:cNvSpPr/>
          <p:nvPr/>
        </p:nvSpPr>
        <p:spPr>
          <a:xfrm>
            <a:off x="6483096" y="444398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4"/>
          <p:cNvSpPr/>
          <p:nvPr/>
        </p:nvSpPr>
        <p:spPr>
          <a:xfrm>
            <a:off x="6647688" y="440740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insurance top-up for existing policies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VALUE-ADDED FEATURES  (2 OF 3)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Wealth Tracking &amp; Investment 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InsureOne becomes the single app where customers see ALL their financial assets — insurance, investments, and loans in one protected view.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4023360" cy="3035808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54864" cy="3035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97510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52144" y="1975104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&amp; Equity Tracking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76656" y="239572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P&amp;L dashboard alongside insurance — a complete financial picture.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" y="27614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Dashboard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304288" y="276148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view of MF folios + equity holdings. Live NAV and LTP updates.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76656" y="31821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Tracker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304288" y="318211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SIPs, next deductions, XIRR performance, and goal progress.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76656" y="36027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Risk-Insurance Link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304288" y="360273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surfaces coverage gaps vs. growing portfolio. Connects wealth to protection.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76656" y="40233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Gains Report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304288" y="40233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STCG/LTCG statement for tax filing, auto-generated for all holdings.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76656" y="44439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Rebalancing Alerts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304288" y="444398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Nudges when equity allocation drifts beyond target.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663440" y="1874520"/>
            <a:ext cx="4023360" cy="3035808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4663440" y="1874520"/>
            <a:ext cx="54864" cy="3035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975104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303520" y="1975104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Platform Integration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828032" y="239572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broker platforms — view holdings, place trades — without leaving InsureOne.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828032" y="27614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API Connect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455664" y="27614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Zerodha, Groww, Upstox, Angel One. Real-time portfolio, no app switch.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4828032" y="31821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&amp; Alerts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455664" y="31821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alerts, portfolio triggers, dividend notifications alongside policy dues.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4828032" y="36027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Placement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455664" y="36027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Deep-link to broker app for one-tap execution. InsureOne tracks, broker executes.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4828032" y="40233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Wellness Score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6455664" y="4023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score combining asset allocation, insurance coverage, and liability.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4828032" y="44439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Handoff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6455664" y="44439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to Roinet advisor when AI detects underinsurance vs. portfolio growth.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502920" y="5010912"/>
            <a:ext cx="8229600" cy="347472"/>
          </a:xfrm>
          <a:prstGeom prst="rect">
            <a:avLst/>
          </a:prstGeom>
          <a:solidFill>
            <a:srgbClr val="181230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3"/>
          <p:cNvSpPr/>
          <p:nvPr/>
        </p:nvSpPr>
        <p:spPr>
          <a:xfrm>
            <a:off x="640080" y="50566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Why it matters: Customers who see both their investments AND insurance in one place are 3× more likely to discuss coverage upgrades with their advisor.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VALUE-ADDED FEATURES  (3 OF 3)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Loans Portal &amp; Premium Financing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insurance to financial services — Roinet as a one-stop platform for credit, loans, and smart premium payment options.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65376"/>
            <a:ext cx="2761488" cy="3035808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865376"/>
            <a:ext cx="276148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9659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6424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Marketplace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06424" y="22494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Personal · Car · Education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67512" y="25786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32104" y="254203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home loan rates from 20+ partner banks &amp; NBFCs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67512" y="29443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32104" y="290779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loan pre-approval based on existing policy tenure &amp; premium history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67512" y="33101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32104" y="327355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loan bundled with motor insurance for a seamless purchase journey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67512" y="367588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832104" y="363931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loan sourcing with insurance-backed security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67512" y="404164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32104" y="400507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against securities (LAS) using investment portfolio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67512" y="44074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832104" y="437083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Roinet earns referral commission — zero cost to customer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410712" y="1865376"/>
            <a:ext cx="2761488" cy="3035808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3410712" y="1865376"/>
            <a:ext cx="2761488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1965960"/>
            <a:ext cx="347472" cy="34747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014216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Portal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014216" y="22494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· Personalised · No-spam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575304" y="2578608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3739896" y="254203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credit card recommendations based on spend profile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3575304" y="2944368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3739896" y="290779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Insurance-linked cards: cards with embedded travel/health cover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3575304" y="3310128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3739896" y="327355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 cards with premium payment rewards (earn on renewals)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3575304" y="3675888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3739896" y="363931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Roinet card (planned Phase 3): points on every premium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3575304" y="4041648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3"/>
          <p:cNvSpPr/>
          <p:nvPr/>
        </p:nvSpPr>
        <p:spPr>
          <a:xfrm>
            <a:off x="3739896" y="400507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credit score check monthly — no hard enquiry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3575304" y="4407408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3739896" y="437083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bill payment reminders alongside premium dues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6318504" y="1865376"/>
            <a:ext cx="2761488" cy="3035808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7"/>
          <p:cNvSpPr/>
          <p:nvPr/>
        </p:nvSpPr>
        <p:spPr>
          <a:xfrm>
            <a:off x="6318504" y="1865376"/>
            <a:ext cx="2761488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1965960"/>
            <a:ext cx="347472" cy="347472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922008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Against Premium</a:t>
            </a:r>
            <a:endParaRPr lang="en-US" sz="1300" dirty="0"/>
          </a:p>
        </p:txBody>
      </p:sp>
      <p:sp>
        <p:nvSpPr>
          <p:cNvPr id="44" name="Text 39"/>
          <p:cNvSpPr/>
          <p:nvPr/>
        </p:nvSpPr>
        <p:spPr>
          <a:xfrm>
            <a:off x="6922008" y="22494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Roinet Feature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6483096" y="257860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1"/>
          <p:cNvSpPr/>
          <p:nvPr/>
        </p:nvSpPr>
        <p:spPr>
          <a:xfrm>
            <a:off x="6647688" y="254203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against surrender value of life / endowment policies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6483096" y="294436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3"/>
          <p:cNvSpPr/>
          <p:nvPr/>
        </p:nvSpPr>
        <p:spPr>
          <a:xfrm>
            <a:off x="6647688" y="290779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approval — no income proof, no credit check required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6483096" y="331012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5"/>
          <p:cNvSpPr/>
          <p:nvPr/>
        </p:nvSpPr>
        <p:spPr>
          <a:xfrm>
            <a:off x="6647688" y="327355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rates 2–4% lower than personal loans (policy as collateral)</a:t>
            </a:r>
            <a:endParaRPr lang="en-US" sz="1000" dirty="0"/>
          </a:p>
        </p:txBody>
      </p:sp>
      <p:sp>
        <p:nvSpPr>
          <p:cNvPr id="51" name="Shape 46"/>
          <p:cNvSpPr/>
          <p:nvPr/>
        </p:nvSpPr>
        <p:spPr>
          <a:xfrm>
            <a:off x="6483096" y="367588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7"/>
          <p:cNvSpPr/>
          <p:nvPr/>
        </p:nvSpPr>
        <p:spPr>
          <a:xfrm>
            <a:off x="6647688" y="363931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amount: up to 90% of surrender value (IRDAI guidelines)</a:t>
            </a:r>
            <a:endParaRPr lang="en-US" sz="1000" dirty="0"/>
          </a:p>
        </p:txBody>
      </p:sp>
      <p:sp>
        <p:nvSpPr>
          <p:cNvPr id="53" name="Shape 48"/>
          <p:cNvSpPr/>
          <p:nvPr/>
        </p:nvSpPr>
        <p:spPr>
          <a:xfrm>
            <a:off x="6483096" y="404164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49"/>
          <p:cNvSpPr/>
          <p:nvPr/>
        </p:nvSpPr>
        <p:spPr>
          <a:xfrm>
            <a:off x="6647688" y="400507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deducted from policy proceeds or bank auto-debit</a:t>
            </a:r>
            <a:endParaRPr lang="en-US" sz="1000" dirty="0"/>
          </a:p>
        </p:txBody>
      </p:sp>
      <p:sp>
        <p:nvSpPr>
          <p:cNvPr id="55" name="Shape 50"/>
          <p:cNvSpPr/>
          <p:nvPr/>
        </p:nvSpPr>
        <p:spPr>
          <a:xfrm>
            <a:off x="6483096" y="440740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1"/>
          <p:cNvSpPr/>
          <p:nvPr/>
        </p:nvSpPr>
        <p:spPr>
          <a:xfrm>
            <a:off x="6647688" y="437083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stays active — coverage continues while loan is serviced</a:t>
            </a:r>
            <a:endParaRPr lang="en-US" sz="1000" dirty="0"/>
          </a:p>
        </p:txBody>
      </p:sp>
      <p:sp>
        <p:nvSpPr>
          <p:cNvPr id="57" name="Shape 52"/>
          <p:cNvSpPr/>
          <p:nvPr/>
        </p:nvSpPr>
        <p:spPr>
          <a:xfrm>
            <a:off x="502920" y="5010912"/>
            <a:ext cx="8229600" cy="347472"/>
          </a:xfrm>
          <a:prstGeom prst="rect">
            <a:avLst/>
          </a:prstGeom>
          <a:solidFill>
            <a:srgbClr val="121A12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Text 53"/>
          <p:cNvSpPr/>
          <p:nvPr/>
        </p:nvSpPr>
        <p:spPr>
          <a:xfrm>
            <a:off x="640080" y="50566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Premium Financing: Customers who pay large annual premiums (&gt;₹50K) can EMI-fy them — removing the biggest barrier to upgrading coverage.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EDUCATION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FAQ &amp; Knowledge Hub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customers buy more, claim correctly, and stay loyal. The FAQ hub builds trust before it's needed.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4187952" cy="1426464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54864" cy="14264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67512" y="194767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Your Policy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7512" y="227685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What is a deductible and how does it affect my premium?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" y="253288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What is the difference between sum insured and sum assured?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" y="278892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What does 'waiting period' mean and when does my cover kick in?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" y="304495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What is a no-claim bonus (NCB) and how do I protect it?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73752" y="1874520"/>
            <a:ext cx="4187952" cy="1426464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873752" y="1874520"/>
            <a:ext cx="54864" cy="14264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38344" y="194767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&amp; Tracking Claims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38344" y="227685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What documents do I need to file a health insurance claim?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38344" y="253288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How does cashless hospitalisation work? What do I do at admission?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38344" y="278892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What is the difference between reimbursement and cashless claims?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38344" y="304495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How long does a motor insurance claim settlement take?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410712"/>
            <a:ext cx="4187952" cy="1426464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2920" y="3410712"/>
            <a:ext cx="54864" cy="14264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7512" y="348386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Premiums &amp; Renewals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7512" y="381304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Why did my premium increase at renewal even without a claim?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" y="406908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Can I switch insurers at renewal without losing my NCB?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" y="432511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What happens if I miss my policy renewal date?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" y="4581144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How is my health insurance premium calculated — what factors matter?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73752" y="3410712"/>
            <a:ext cx="4187952" cy="1426464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73752" y="3410712"/>
            <a:ext cx="54864" cy="14264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038344" y="348386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&amp; Policy Value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38344" y="381304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Can I take a loan against my life insurance policy? How much?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38344" y="406908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What is the surrender value of my policy and when does it apply?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38344" y="432511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What is a paid-up policy and when does it make sense?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38344" y="4581144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How does premium financing (EMI) work for large annual premiums?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992624"/>
            <a:ext cx="8229600" cy="384048"/>
          </a:xfrm>
          <a:prstGeom prst="rect">
            <a:avLst/>
          </a:prstGeom>
          <a:solidFill>
            <a:srgbClr val="1A1530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0080" y="50474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Format: Searchable in-app FAQ · Short video explainers (60–90 sec) · Curated by Roinet advisors · Updated quarterly for IRDAI rule changes · Available in Hindi + English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Architecture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229600" cy="65836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03504" y="157276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77440" y="1499616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432304" y="15544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iOS (Swift)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547872" y="1499616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02736" y="15544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Android (Kotlin)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18304" y="1499616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73168" y="15544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Web (React)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888736" y="1499616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0" y="15544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WhatsApp API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059168" y="1499616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114032" y="15544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Voice Bot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121408"/>
            <a:ext cx="8229600" cy="658368"/>
          </a:xfrm>
          <a:prstGeom prst="rect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" y="232257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+ AUTH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77440" y="2249424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432304" y="230428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OAuth 2.0 / JWT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47872" y="2249424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02736" y="230428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+ WAF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18304" y="2249424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73168" y="230428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Compliance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88736" y="2249424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0" y="230428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/ AWS Gateway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" y="2871216"/>
            <a:ext cx="8229600" cy="658368"/>
          </a:xfrm>
          <a:prstGeom prst="rect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03504" y="307238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377440" y="2999232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432304" y="305409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Policy Svc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547872" y="2999232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02736" y="305409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Claims Svc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18304" y="2999232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73168" y="305409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Wealth Svc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888736" y="2999232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943600" y="305409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Loans Svc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059168" y="2999232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114032" y="305409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AI/ML Svc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229600" y="2999232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284464" y="305409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Notifications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2920" y="3621024"/>
            <a:ext cx="8229600" cy="658368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03504" y="382219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377440" y="3749040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432304" y="38039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🗃️ PostgreSQL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547872" y="3749040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602736" y="38039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Redis Cache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18304" y="3749040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773168" y="38039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MongoDB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888736" y="3749040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943600" y="38039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🪣 S3 / Object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059168" y="3749040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114032" y="38039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BigQuery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02920" y="4370832"/>
            <a:ext cx="8229600" cy="658368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03504" y="457200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INTEGRATIONS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377440" y="4498848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2432304" y="45537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Bima Sugam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547872" y="4498848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3602736" y="45537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30+ Insurer APIs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18304" y="4498848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773168" y="45537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Broker APIs (Zerodha etc.)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888736" y="4498848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5943600" y="45537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Account Aggregator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059168" y="4498848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7114032" y="45537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🆔 India Stack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229600" y="4498848"/>
            <a:ext cx="1078992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8284464" y="45537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Claude AI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02920" y="4919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AWS (Mumbai + Hyderabad)  ·  Kubernetes EKS  ·  CI/CD GitHub Actions  ·  ISO 27001 Target  ·  DPDP Act 2023 Compliant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 Claim: End-to-End Journey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accident to cashless settlement — every system and person playing their role.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731520" cy="731520"/>
          </a:xfrm>
          <a:prstGeom prst="ellipse">
            <a:avLst/>
          </a:prstGeom>
          <a:solidFill>
            <a:srgbClr val="F59E0B">
              <a:alpha val="82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58952" y="1993392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508760" y="2249424"/>
            <a:ext cx="237744" cy="73152"/>
          </a:xfrm>
          <a:prstGeom prst="rect">
            <a:avLst/>
          </a:prstGeom>
          <a:solidFill>
            <a:srgbClr val="9090B0">
              <a:alpha val="60000"/>
            </a:srgbClr>
          </a:solidFill>
          <a:ln w="12700">
            <a:solidFill>
              <a:srgbClr val="909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2798064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7784" y="3108960"/>
            <a:ext cx="1133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InsureOne app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02536" y="1920240"/>
            <a:ext cx="731520" cy="731520"/>
          </a:xfrm>
          <a:prstGeom prst="ellipse">
            <a:avLst/>
          </a:prstGeom>
          <a:solidFill>
            <a:srgbClr val="14B8A6">
              <a:alpha val="82000"/>
            </a:srgbClr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002536" y="1993392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752344" y="2249424"/>
            <a:ext cx="237744" cy="73152"/>
          </a:xfrm>
          <a:prstGeom prst="rect">
            <a:avLst/>
          </a:prstGeom>
          <a:solidFill>
            <a:srgbClr val="9090B0">
              <a:alpha val="60000"/>
            </a:srgbClr>
          </a:solidFill>
          <a:ln w="12700">
            <a:solidFill>
              <a:srgbClr val="909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837944" y="2798064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Pre-fill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01368" y="3108960"/>
            <a:ext cx="1133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identifies policy + pre-fills form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1920240"/>
            <a:ext cx="731520" cy="731520"/>
          </a:xfrm>
          <a:prstGeom prst="ellipse">
            <a:avLst/>
          </a:prstGeom>
          <a:solidFill>
            <a:srgbClr val="A78BFA">
              <a:alpha val="82000"/>
            </a:srgbClr>
          </a:solidFill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46120" y="1993392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995928" y="2249424"/>
            <a:ext cx="237744" cy="73152"/>
          </a:xfrm>
          <a:prstGeom prst="rect">
            <a:avLst/>
          </a:prstGeom>
          <a:solidFill>
            <a:srgbClr val="9090B0">
              <a:alpha val="60000"/>
            </a:srgbClr>
          </a:solidFill>
          <a:ln w="12700">
            <a:solidFill>
              <a:srgbClr val="909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81528" y="2798064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Photo/Video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44952" y="3108960"/>
            <a:ext cx="1133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model assesses damage &amp; cost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89704" y="1920240"/>
            <a:ext cx="731520" cy="731520"/>
          </a:xfrm>
          <a:prstGeom prst="ellipse">
            <a:avLst/>
          </a:prstGeom>
          <a:solidFill>
            <a:srgbClr val="F97316">
              <a:alpha val="82000"/>
            </a:srgbClr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489704" y="1993392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5239512" y="2249424"/>
            <a:ext cx="237744" cy="73152"/>
          </a:xfrm>
          <a:prstGeom prst="rect">
            <a:avLst/>
          </a:prstGeom>
          <a:solidFill>
            <a:srgbClr val="9090B0">
              <a:alpha val="60000"/>
            </a:srgbClr>
          </a:solidFill>
          <a:ln w="12700">
            <a:solidFill>
              <a:srgbClr val="909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325112" y="2798064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88536" y="3108960"/>
            <a:ext cx="1133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&lt;₹25K instant · &gt;₹25K surveyor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33288" y="1920240"/>
            <a:ext cx="731520" cy="731520"/>
          </a:xfrm>
          <a:prstGeom prst="ellipse">
            <a:avLst/>
          </a:prstGeom>
          <a:solidFill>
            <a:srgbClr val="14B8A6">
              <a:alpha val="82000"/>
            </a:srgbClr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733288" y="1993392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6483096" y="2249424"/>
            <a:ext cx="237744" cy="73152"/>
          </a:xfrm>
          <a:prstGeom prst="rect">
            <a:avLst/>
          </a:prstGeom>
          <a:solidFill>
            <a:srgbClr val="9090B0">
              <a:alpha val="60000"/>
            </a:srgbClr>
          </a:solidFill>
          <a:ln w="12700">
            <a:solidFill>
              <a:srgbClr val="909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568696" y="2798064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Pre-auth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32120" y="3108960"/>
            <a:ext cx="1133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Cashless garage selected, pre-auth sent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76872" y="1920240"/>
            <a:ext cx="731520" cy="731520"/>
          </a:xfrm>
          <a:prstGeom prst="ellipse">
            <a:avLst/>
          </a:prstGeom>
          <a:solidFill>
            <a:srgbClr val="22C55E">
              <a:alpha val="82000"/>
            </a:srgbClr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976872" y="1993392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7726680" y="2249424"/>
            <a:ext cx="237744" cy="73152"/>
          </a:xfrm>
          <a:prstGeom prst="rect">
            <a:avLst/>
          </a:prstGeom>
          <a:solidFill>
            <a:srgbClr val="9090B0">
              <a:alpha val="60000"/>
            </a:srgbClr>
          </a:solidFill>
          <a:ln w="12700">
            <a:solidFill>
              <a:srgbClr val="909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812280" y="2798064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75704" y="3108960"/>
            <a:ext cx="1133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+ concierge track in real-time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220456" y="1920240"/>
            <a:ext cx="731520" cy="731520"/>
          </a:xfrm>
          <a:prstGeom prst="ellipse">
            <a:avLst/>
          </a:prstGeom>
          <a:solidFill>
            <a:srgbClr val="22C55E">
              <a:alpha val="82000"/>
            </a:srgbClr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220456" y="1993392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8055864" y="2798064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19288" y="3108960"/>
            <a:ext cx="1133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collected. NPS survey + reward points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3749040"/>
            <a:ext cx="8229600" cy="36576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03504" y="3840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49424" y="3840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InsureOne AI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895344" y="3840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41264" y="3840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187184" y="3840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" y="4224528"/>
            <a:ext cx="2651760" cy="107899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02920" y="4224528"/>
            <a:ext cx="265176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94360" y="431596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60s</a:t>
            </a:r>
            <a:endParaRPr lang="en-US" sz="3600" dirty="0"/>
          </a:p>
        </p:txBody>
      </p:sp>
      <p:sp>
        <p:nvSpPr>
          <p:cNvPr id="49" name="Text 47"/>
          <p:cNvSpPr/>
          <p:nvPr/>
        </p:nvSpPr>
        <p:spPr>
          <a:xfrm>
            <a:off x="594360" y="49194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filing time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337560" y="4224528"/>
            <a:ext cx="2651760" cy="107899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3337560" y="4224528"/>
            <a:ext cx="265176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429000" y="431596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</a:t>
            </a:r>
            <a:endParaRPr lang="en-US" sz="3600" dirty="0"/>
          </a:p>
        </p:txBody>
      </p:sp>
      <p:sp>
        <p:nvSpPr>
          <p:cNvPr id="53" name="Text 51"/>
          <p:cNvSpPr/>
          <p:nvPr/>
        </p:nvSpPr>
        <p:spPr>
          <a:xfrm>
            <a:off x="3429000" y="49194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pays (cashless)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172200" y="4224528"/>
            <a:ext cx="2651760" cy="107899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172200" y="4224528"/>
            <a:ext cx="265176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263640" y="431596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3–5d</a:t>
            </a:r>
            <a:endParaRPr lang="en-US" sz="3600" dirty="0"/>
          </a:p>
        </p:txBody>
      </p:sp>
      <p:sp>
        <p:nvSpPr>
          <p:cNvPr id="57" name="Text 55"/>
          <p:cNvSpPr/>
          <p:nvPr/>
        </p:nvSpPr>
        <p:spPr>
          <a:xfrm>
            <a:off x="6263640" y="49194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target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4-Phase Build Roadmap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2029968" cy="3438144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202996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12648" y="15727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12648" y="2212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" y="2487168"/>
            <a:ext cx="1828800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0936" y="250545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 useful at renewal"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9224" y="283464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77240" y="2798064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wallet (all insurers)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" y="323697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7240" y="320040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claim + live tracker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" y="363931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360273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KYP summaries + chatbot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" y="404164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7240" y="400507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Cashless finder (hospital + garage)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" y="444398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7240" y="440740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Bima Sugam integration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97480" y="1481328"/>
            <a:ext cx="2029968" cy="3438144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697480" y="1481328"/>
            <a:ext cx="2029968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807208" y="15727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807208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807208" y="2212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07208" y="2487168"/>
            <a:ext cx="1828800" cy="256032"/>
          </a:xfrm>
          <a:prstGeom prst="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825496" y="250545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 helpful every week"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843784" y="2834640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971800" y="2798064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claim pre-fill + CV model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43784" y="3236976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971800" y="320040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concierge (Tier A)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43784" y="3639312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971800" y="360273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Hub (FASTag, challan)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43784" y="404164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971800" y="400507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&amp; equity portfolio tracking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843784" y="444398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971800" y="440740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propensity ML + rewards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92040" y="1481328"/>
            <a:ext cx="2029968" cy="3438144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892040" y="1481328"/>
            <a:ext cx="2029968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001768" y="15727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001768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Differentiate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001768" y="2212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10–16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01768" y="2487168"/>
            <a:ext cx="1828800" cy="256032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020056" y="250545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 irreplaceable"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38344" y="2834640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166360" y="2798064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PSIP + life events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38344" y="3236976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166360" y="320040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marketplace + credit cards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038344" y="3639312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166360" y="360273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platform deep-link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038344" y="4041648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166360" y="400507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Aggregator integration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038344" y="444398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5166360" y="440740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voice bot (Hindi + English)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86600" y="1481328"/>
            <a:ext cx="2029968" cy="3438144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7086600" y="1481328"/>
            <a:ext cx="2029968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7196328" y="15727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196328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7196328" y="2212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17–24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196328" y="2487168"/>
            <a:ext cx="1828800" cy="256032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214616" y="250545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 the platform"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232904" y="283464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7360920" y="2798064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against premium product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232904" y="323697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7360920" y="320040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financial dashboard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232904" y="363931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360920" y="360273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hub + video explainers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232904" y="404164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7360920" y="4005072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/ SME group portal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232904" y="444398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7360920" y="440740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insurance + open API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02920" y="50292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has a defined success gate before proceeding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SUCCESS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Measure Success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2651760" cy="107899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265176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66420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94360" y="22677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filing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20+ min avg)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572768"/>
            <a:ext cx="2651760" cy="107899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37560" y="1572768"/>
            <a:ext cx="265176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29000" y="166420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29000" y="22677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rate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(app-engaged users)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572768"/>
            <a:ext cx="2651760" cy="107899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172200" y="1572768"/>
            <a:ext cx="2651760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63640" y="166420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4.5★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63640" y="22677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rating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999232"/>
            <a:ext cx="2651760" cy="107899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02920" y="2999232"/>
            <a:ext cx="2651760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4360" y="309067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70+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94360" y="36941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— Tier 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3)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2999232"/>
            <a:ext cx="2651760" cy="107899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337560" y="2999232"/>
            <a:ext cx="265176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29000" y="309067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2.5×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3429000" y="36941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vs.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baseline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2999232"/>
            <a:ext cx="2651760" cy="107899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172200" y="2999232"/>
            <a:ext cx="265176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263640" y="309067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263640" y="36941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Users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Phase 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4553712"/>
            <a:ext cx="8229600" cy="475488"/>
          </a:xfrm>
          <a:prstGeom prst="rect">
            <a:avLst/>
          </a:prstGeom>
          <a:solidFill>
            <a:srgbClr val="1A1428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" y="46634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benchmarks: Acko 4.8★  ·  Policybazaar 4.6★  ·  Industry avg claim filing: 20+ min  ·  Industry renewal rate: ~72%  ·  Target: beat all three.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PLATFORM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Roinet Customers — Anyone's Policyholders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2435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InsureOne is open to all — customers who bought from any broker, agent, or direct. A freemium model that converts them to Roinet over 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00784"/>
            <a:ext cx="2761488" cy="318211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700784"/>
            <a:ext cx="2761488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30936" y="175564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993392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2011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Policyholder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0936" y="237744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from any broker / agent / direct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9224" y="2651760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95528" y="2615184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policy PDF — instant KYP summary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9224" y="2999232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95528" y="296265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included / excluded checker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9224" y="3346704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95528" y="331012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Cashless hospital finder — all India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9224" y="3694176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795528" y="365760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comparison vs. market (any insurer)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9224" y="404164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95528" y="400507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&amp; education hub — unlimited access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49224" y="4389120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795528" y="4352544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renewal reminder (30 days before)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429000" y="1700784"/>
            <a:ext cx="2761488" cy="318211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3429000" y="1700784"/>
            <a:ext cx="276148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3557016" y="175564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ROINET MEMBER</a:t>
            </a:r>
            <a:endParaRPr lang="en-US" sz="9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1993392"/>
            <a:ext cx="329184" cy="32918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977640" y="2011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Roinet Policy Holder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3557016" y="237744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 policy placed through Roinet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3575304" y="26517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3721608" y="2615184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Free Tier, plus: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3575304" y="299923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3721608" y="296265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Benefits wallet (10% of premium)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3575304" y="334670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3721608" y="331012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claim filing + live tracker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3575304" y="369417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3"/>
          <p:cNvSpPr/>
          <p:nvPr/>
        </p:nvSpPr>
        <p:spPr>
          <a:xfrm>
            <a:off x="3721608" y="365760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PSIP from assigned advisor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3575304" y="404164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3721608" y="400507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renewal nudge + discount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3575304" y="438912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7"/>
          <p:cNvSpPr/>
          <p:nvPr/>
        </p:nvSpPr>
        <p:spPr>
          <a:xfrm>
            <a:off x="3721608" y="4352544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cashless pre-auth initiation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6355080" y="1700784"/>
            <a:ext cx="2761488" cy="318211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39"/>
          <p:cNvSpPr/>
          <p:nvPr/>
        </p:nvSpPr>
        <p:spPr>
          <a:xfrm>
            <a:off x="6355080" y="1700784"/>
            <a:ext cx="2761488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0"/>
          <p:cNvSpPr/>
          <p:nvPr/>
        </p:nvSpPr>
        <p:spPr>
          <a:xfrm>
            <a:off x="6483096" y="175564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 MEMBER</a:t>
            </a:r>
            <a:endParaRPr lang="en-US" sz="900" dirty="0"/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1993392"/>
            <a:ext cx="329184" cy="329184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6903720" y="2011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/ Tier A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6483096" y="237744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Roinet customers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6501384" y="2651760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4"/>
          <p:cNvSpPr/>
          <p:nvPr/>
        </p:nvSpPr>
        <p:spPr>
          <a:xfrm>
            <a:off x="6647688" y="2615184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Roinet Member, plus:</a:t>
            </a:r>
            <a:endParaRPr lang="en-US" sz="950" dirty="0"/>
          </a:p>
        </p:txBody>
      </p:sp>
      <p:sp>
        <p:nvSpPr>
          <p:cNvPr id="50" name="Shape 45"/>
          <p:cNvSpPr/>
          <p:nvPr/>
        </p:nvSpPr>
        <p:spPr>
          <a:xfrm>
            <a:off x="6501384" y="2999232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6"/>
          <p:cNvSpPr/>
          <p:nvPr/>
        </p:nvSpPr>
        <p:spPr>
          <a:xfrm>
            <a:off x="6647688" y="296265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dedicated concierge (human RM)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6501384" y="3346704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48"/>
          <p:cNvSpPr/>
          <p:nvPr/>
        </p:nvSpPr>
        <p:spPr>
          <a:xfrm>
            <a:off x="6647688" y="331012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tracking + trading platform access</a:t>
            </a:r>
            <a:endParaRPr lang="en-US" sz="950" dirty="0"/>
          </a:p>
        </p:txBody>
      </p:sp>
      <p:sp>
        <p:nvSpPr>
          <p:cNvPr id="54" name="Shape 49"/>
          <p:cNvSpPr/>
          <p:nvPr/>
        </p:nvSpPr>
        <p:spPr>
          <a:xfrm>
            <a:off x="6501384" y="3694176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0"/>
          <p:cNvSpPr/>
          <p:nvPr/>
        </p:nvSpPr>
        <p:spPr>
          <a:xfrm>
            <a:off x="6647688" y="365760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portal + loan against premium</a:t>
            </a:r>
            <a:endParaRPr lang="en-US" sz="950" dirty="0"/>
          </a:p>
        </p:txBody>
      </p:sp>
      <p:sp>
        <p:nvSpPr>
          <p:cNvPr id="56" name="Shape 51"/>
          <p:cNvSpPr/>
          <p:nvPr/>
        </p:nvSpPr>
        <p:spPr>
          <a:xfrm>
            <a:off x="6501384" y="4041648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2"/>
          <p:cNvSpPr/>
          <p:nvPr/>
        </p:nvSpPr>
        <p:spPr>
          <a:xfrm>
            <a:off x="6647688" y="400507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lounge access (partner tie-up)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6501384" y="4389120"/>
            <a:ext cx="91440" cy="914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4"/>
          <p:cNvSpPr/>
          <p:nvPr/>
        </p:nvSpPr>
        <p:spPr>
          <a:xfrm>
            <a:off x="6647688" y="4352544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PSIP review with senior advisor</a:t>
            </a:r>
            <a:endParaRPr lang="en-US" sz="950" dirty="0"/>
          </a:p>
        </p:txBody>
      </p:sp>
      <p:sp>
        <p:nvSpPr>
          <p:cNvPr id="60" name="Shape 55"/>
          <p:cNvSpPr/>
          <p:nvPr/>
        </p:nvSpPr>
        <p:spPr>
          <a:xfrm>
            <a:off x="502920" y="4974336"/>
            <a:ext cx="8229600" cy="347472"/>
          </a:xfrm>
          <a:prstGeom prst="rect">
            <a:avLst/>
          </a:prstGeom>
          <a:solidFill>
            <a:srgbClr val="101020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Text 56"/>
          <p:cNvSpPr/>
          <p:nvPr/>
        </p:nvSpPr>
        <p:spPr>
          <a:xfrm>
            <a:off x="640080" y="502920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Strategy: Free tier converts non-Roinet customers. Every KYP summary, hospital search, and comparison they run is a Roinet brand experience. By renewal time — they're ready to switch.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 Benefits Wallet — 10% of Premium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Roinet policyholder receives experiential perks funded at 10% of their annual premium — automatically loaded into their InsureOne wallet.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19072"/>
            <a:ext cx="2743200" cy="969264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9224" y="1828800"/>
            <a:ext cx="402336" cy="402336"/>
          </a:xfrm>
          <a:prstGeom prst="ellipse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9224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184708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Paid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9224" y="230428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pays ₹20,000 on health + ₹8,000 on motor = ₹28,000 total annual premium.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82696" y="2176272"/>
            <a:ext cx="128016" cy="54864"/>
          </a:xfrm>
          <a:prstGeom prst="rect">
            <a:avLst/>
          </a:prstGeom>
          <a:solidFill>
            <a:srgbClr val="9090B0">
              <a:alpha val="50000"/>
            </a:srgbClr>
          </a:solidFill>
          <a:ln w="12700">
            <a:solidFill>
              <a:srgbClr val="909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410712" y="1719072"/>
            <a:ext cx="2743200" cy="969264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557016" y="1828800"/>
            <a:ext cx="402336" cy="402336"/>
          </a:xfrm>
          <a:prstGeom prst="ellipse">
            <a:avLst/>
          </a:prstGeom>
          <a:solidFill>
            <a:srgbClr val="14B8A6">
              <a:alpha val="80000"/>
            </a:srgbClr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57016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050792" y="184708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Credited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57016" y="230428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₹2,800 automatically loaded to Soft Benefits Wallet. No action needed — it just appears.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90488" y="2176272"/>
            <a:ext cx="128016" cy="54864"/>
          </a:xfrm>
          <a:prstGeom prst="rect">
            <a:avLst/>
          </a:prstGeom>
          <a:solidFill>
            <a:srgbClr val="9090B0">
              <a:alpha val="50000"/>
            </a:srgbClr>
          </a:solidFill>
          <a:ln w="12700">
            <a:solidFill>
              <a:srgbClr val="909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318504" y="1719072"/>
            <a:ext cx="2743200" cy="969264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464808" y="1828800"/>
            <a:ext cx="402336" cy="402336"/>
          </a:xfrm>
          <a:prstGeom prst="ellipse">
            <a:avLst/>
          </a:prstGeom>
          <a:solidFill>
            <a:srgbClr val="A78BFA">
              <a:alpha val="80000"/>
            </a:srgbClr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64808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58584" y="184708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 Anytime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64808" y="230428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redeems from perks catalog. Points expire 12 months after credit — creating renewal urgency.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27980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PERKS CATALOG — What the Wallet Gets You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3145536"/>
            <a:ext cx="2761488" cy="768096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94360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6696" y="32369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Tickets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96696" y="3474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premium INOX/PVR tickets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BookMyShow credits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24328" y="34015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₹600–800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10712" y="3145536"/>
            <a:ext cx="2761488" cy="768096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502152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904488" y="32369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Dinner for Two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904488" y="3474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restaurant dining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up to ₹3,000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32120" y="34015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₹2,500–3,000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18504" y="3145536"/>
            <a:ext cx="2761488" cy="768096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09944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812280" y="32369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Hotel Stay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812280" y="3474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1-night stay — Taj, ITC,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Oberoi, Hyatt networks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39912" y="34015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₹8,000–15,000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4005072"/>
            <a:ext cx="2761488" cy="768096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9436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🧖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96696" y="40965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&amp; Wellness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96696" y="433425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Couple's spa session 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health spa day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624328" y="426110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₹3,000–5,000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410712" y="4005072"/>
            <a:ext cx="2761488" cy="768096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502152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3904488" y="40965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Lounge / Upgrade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3904488" y="433425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lounge access 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class upgrade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32120" y="426110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₹2,000–4,000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318504" y="4005072"/>
            <a:ext cx="2761488" cy="768096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409944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812280" y="40965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Gift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812280" y="433425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gourmet, lifestyle,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electronics hamper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439912" y="426110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₹1,500–5,000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ENGINE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30-Day Renewal Nudge System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multi-touch, personalised nudge sequence starting 30 days before every policy expiry — across every channel.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47088"/>
            <a:ext cx="4187952" cy="914400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847088"/>
            <a:ext cx="54864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30936" y="1938528"/>
            <a:ext cx="658368" cy="201168"/>
          </a:xfrm>
          <a:prstGeom prst="rect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30936" y="193852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−30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44168" y="19568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+ WhatsApp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30936" y="21762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Heads-Up Reminder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" y="24323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'Your Health Insurance renews in 30 days. Soft Benefits wallet has ₹2,800 — use it before it expires!' Links to renewal flow.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73752" y="1847088"/>
            <a:ext cx="4187952" cy="914400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873752" y="1847088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001768" y="1938528"/>
            <a:ext cx="658368" cy="201168"/>
          </a:xfrm>
          <a:prstGeom prst="rect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01768" y="193852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−21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15000" y="19568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Card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01768" y="21762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KYP Review Prompt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01768" y="24323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'Your plan excludes maternity after Year 2. Review your KYP — your advisor has an upgrade recommendation ready.'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2871216"/>
            <a:ext cx="4187952" cy="914400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2920" y="2871216"/>
            <a:ext cx="54864" cy="9144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30936" y="2962656"/>
            <a:ext cx="658368" cy="201168"/>
          </a:xfrm>
          <a:prstGeom prst="rect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30936" y="29626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−14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44168" y="29809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Email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0936" y="32004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Comparison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'We compared 12 plans. Your current ₹5L cover at ₹20,000/yr can be upgraded to ₹10L for ₹22,500 — double protection, ₹2,500 more.'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73752" y="2871216"/>
            <a:ext cx="4187952" cy="914400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73752" y="2871216"/>
            <a:ext cx="54864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001768" y="2962656"/>
            <a:ext cx="658368" cy="201168"/>
          </a:xfrm>
          <a:prstGeom prst="rect">
            <a:avLst/>
          </a:prstGeom>
          <a:solidFill>
            <a:srgbClr val="F97316">
              <a:alpha val="22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01768" y="29626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15000" y="29809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+ SMS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01768" y="32004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Offer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01768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'Renew in 7 days: ₹500 off premium + 500 bonus Soft Benefit points + No-claim bonus protection. One tap to renew.'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3895344"/>
            <a:ext cx="4187952" cy="914400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02920" y="3895344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30936" y="3986784"/>
            <a:ext cx="658368" cy="201168"/>
          </a:xfrm>
          <a:prstGeom prst="rect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30936" y="39867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44168" y="40050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Channels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0936" y="42245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Outreach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0936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'3 days left. Concierge Priya S. pre-filled your renewal — 30 seconds to confirm. Call her directly or tap to review.'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73752" y="3895344"/>
            <a:ext cx="4187952" cy="914400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873752" y="3895344"/>
            <a:ext cx="54864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5001768" y="3986784"/>
            <a:ext cx="658368" cy="201168"/>
          </a:xfrm>
          <a:prstGeom prst="rect">
            <a:avLst/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001768" y="39867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15000" y="40050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+ WA + Call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001768" y="42245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Urgency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01768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'Last day. Policy lapses at midnight — zero cover from tomorrow. Soft Benefit points also expire. Renew now.'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02920" y="4974336"/>
            <a:ext cx="8229600" cy="347472"/>
          </a:xfrm>
          <a:prstGeom prst="rect">
            <a:avLst/>
          </a:prstGeom>
          <a:solidFill>
            <a:srgbClr val="101020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40080" y="502920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Expected lift: App-nudged customers renew at 88% vs. 72% industry average. Soft Benefit expiry urgency drives 40% of renewals in the final 7-day window.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COMPARISON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Your Policy vs. the Market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renewal time and anytime — customers see how their current policy stacks up against the best alternatives. Transparent, unbiased, advisor-supported.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8229600" cy="347472"/>
          </a:xfrm>
          <a:prstGeom prst="rect">
            <a:avLst/>
          </a:prstGeom>
          <a:solidFill>
            <a:srgbClr val="F59E0B">
              <a:alpha val="86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03504" y="189280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084832" y="189280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Plan (HDFC ERGO)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13632" y="189280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Recommended (Niva Bupa)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88736" y="189280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Health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278624" y="18928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Lombard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176272"/>
            <a:ext cx="8229600" cy="32004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895344" y="2176272"/>
            <a:ext cx="1883664" cy="320040"/>
          </a:xfrm>
          <a:prstGeom prst="rect">
            <a:avLst/>
          </a:prstGeom>
          <a:solidFill>
            <a:srgbClr val="22C55E">
              <a:alpha val="9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3504" y="2231136"/>
            <a:ext cx="1389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Insured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84832" y="2231136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 Lakh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913632" y="2231136"/>
            <a:ext cx="18653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 Lakh  ✓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888736" y="2231136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₹7.5 Lakh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278624" y="223113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 Lakh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95344" y="2496312"/>
            <a:ext cx="1883664" cy="320040"/>
          </a:xfrm>
          <a:prstGeom prst="rect">
            <a:avLst/>
          </a:prstGeom>
          <a:solidFill>
            <a:srgbClr val="22C55E">
              <a:alpha val="9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03504" y="2551176"/>
            <a:ext cx="1389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Premium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84832" y="2551176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₹20,000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13632" y="2551176"/>
            <a:ext cx="18653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₹22,500  ✓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88736" y="2551176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₹19,800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78624" y="255117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₹18,200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2816352"/>
            <a:ext cx="8229600" cy="32004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95344" y="2816352"/>
            <a:ext cx="1883664" cy="320040"/>
          </a:xfrm>
          <a:prstGeom prst="rect">
            <a:avLst/>
          </a:prstGeom>
          <a:solidFill>
            <a:srgbClr val="22C55E">
              <a:alpha val="9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03504" y="2871216"/>
            <a:ext cx="1389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Rent Cap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84832" y="2871216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₹5,000/day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913632" y="2871216"/>
            <a:ext cx="18653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limit  ✓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88736" y="2871216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₹6,000/day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278624" y="287121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₹4,000/day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95344" y="3136392"/>
            <a:ext cx="1883664" cy="320040"/>
          </a:xfrm>
          <a:prstGeom prst="rect">
            <a:avLst/>
          </a:prstGeom>
          <a:solidFill>
            <a:srgbClr val="22C55E">
              <a:alpha val="9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03504" y="3191256"/>
            <a:ext cx="1389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Benefit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084832" y="3191256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Once/year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913632" y="3191256"/>
            <a:ext cx="18653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 ✓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88736" y="3191256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Once/year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278624" y="319125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included  ✗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3456432"/>
            <a:ext cx="8229600" cy="32004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895344" y="3456432"/>
            <a:ext cx="1883664" cy="320040"/>
          </a:xfrm>
          <a:prstGeom prst="rect">
            <a:avLst/>
          </a:prstGeom>
          <a:solidFill>
            <a:srgbClr val="22C55E">
              <a:alpha val="9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03504" y="3511296"/>
            <a:ext cx="1389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Pre-existing Wait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084832" y="3511296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4-yr wait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913632" y="3511296"/>
            <a:ext cx="18653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2-yr wait  ✓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888736" y="3511296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3-yr wait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278624" y="351129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4-yr wait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895344" y="3776472"/>
            <a:ext cx="1883664" cy="320040"/>
          </a:xfrm>
          <a:prstGeom prst="rect">
            <a:avLst/>
          </a:prstGeom>
          <a:solidFill>
            <a:srgbClr val="22C55E">
              <a:alpha val="9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03504" y="3831336"/>
            <a:ext cx="1389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Maternity Cover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084832" y="3831336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included  ✗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913632" y="3831336"/>
            <a:ext cx="18653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 yrs  ✓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888736" y="3831336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yrs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278624" y="383133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included  ✗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2920" y="4096512"/>
            <a:ext cx="8229600" cy="32004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3895344" y="4096512"/>
            <a:ext cx="1883664" cy="320040"/>
          </a:xfrm>
          <a:prstGeom prst="rect">
            <a:avLst/>
          </a:prstGeom>
          <a:solidFill>
            <a:srgbClr val="22C55E">
              <a:alpha val="9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03504" y="4151376"/>
            <a:ext cx="1389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No-Claim Bonus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084832" y="4151376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10%/yr, 50% max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913632" y="4151376"/>
            <a:ext cx="18653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20%/yr, 100% max  ✓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888736" y="4151376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15%/yr, 75%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278624" y="415137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10%/yr, 50%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895344" y="4416552"/>
            <a:ext cx="1883664" cy="320040"/>
          </a:xfrm>
          <a:prstGeom prst="rect">
            <a:avLst/>
          </a:prstGeom>
          <a:solidFill>
            <a:srgbClr val="22C55E">
              <a:alpha val="9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03504" y="4471416"/>
            <a:ext cx="1389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Hospitals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084832" y="4471416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6,500+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913632" y="4471416"/>
            <a:ext cx="18653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 ✓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888736" y="4471416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9,500+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278624" y="447141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7,200+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02920" y="4974336"/>
            <a:ext cx="8229600" cy="347472"/>
          </a:xfrm>
          <a:prstGeom prst="rect">
            <a:avLst/>
          </a:prstGeom>
          <a:solidFill>
            <a:srgbClr val="101020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640080" y="502920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Advisor tip shown inline: 'For ₹2,500 more/yr, Option B doubles your sum insured and removes the room rent cap. Based on your family profile, this is the upgrade we recommend.'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TOOLS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Finder &amp; Disease Checker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tabs. Used most often at two moments of truth — during a medical emergency and at renewal review.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92224"/>
            <a:ext cx="4023360" cy="3127248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792224"/>
            <a:ext cx="54864" cy="31272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2024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920240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1: Cashless Hospital Finder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8368" y="2304288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India network — filtered by your active policy's insurer.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8368" y="265176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GPS-Based Search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231136" y="265176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cashless hospitals on map. Filter by distance, specialty, star rating.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58368" y="301752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Policy-Specific Network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231136" y="301752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shows YOUR insurer's network — no misleading listings from other companies.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58368" y="338328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Filter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231136" y="338328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Cardiology · Orthopaedics · Oncology · Maternity · ENT · Paediatrics + more.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58368" y="374904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Details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231136" y="374904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hours, emergency contacts, pre-auth desk number, bed type availability.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58368" y="411480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Pre-Auth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231136" y="411480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cashless pre-authorisation directly — before patient is admitted.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58368" y="448056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Limits Here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231136" y="4480560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rent cap, ICU limit, co-pay % applicable at the selected hospital shown.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663440" y="1792224"/>
            <a:ext cx="4023360" cy="3127248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4663440" y="1792224"/>
            <a:ext cx="54864" cy="3127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920240"/>
            <a:ext cx="347472" cy="34747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285232" y="1920240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2: Disease Included / Excluded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4828032" y="2304288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what your policy covers — before you need it.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828032" y="2633472"/>
            <a:ext cx="3730752" cy="237744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4882896" y="26517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858000" y="2651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7626096" y="265176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828032" y="2871216"/>
            <a:ext cx="3730752" cy="25603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4882896" y="29077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Replacement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858000" y="29077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Covered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7626096" y="290779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yrs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4882896" y="31638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Treatment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6858000" y="31638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Covered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7626096" y="316382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4828032" y="3383280"/>
            <a:ext cx="3730752" cy="25603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6"/>
          <p:cNvSpPr/>
          <p:nvPr/>
        </p:nvSpPr>
        <p:spPr>
          <a:xfrm>
            <a:off x="4882896" y="34198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Maternity / C-Section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6858000" y="341985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Covered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7626096" y="341985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yrs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4882896" y="36758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(non-accident)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6858000" y="36758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Excluded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7626096" y="36758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4828032" y="3895344"/>
            <a:ext cx="3730752" cy="25603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3"/>
          <p:cNvSpPr/>
          <p:nvPr/>
        </p:nvSpPr>
        <p:spPr>
          <a:xfrm>
            <a:off x="4882896" y="3931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Surgery</a:t>
            </a:r>
            <a:endParaRPr lang="en-US" sz="950" dirty="0"/>
          </a:p>
        </p:txBody>
      </p:sp>
      <p:sp>
        <p:nvSpPr>
          <p:cNvPr id="48" name="Text 44"/>
          <p:cNvSpPr/>
          <p:nvPr/>
        </p:nvSpPr>
        <p:spPr>
          <a:xfrm>
            <a:off x="6858000" y="39319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Excluded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7626096" y="3931920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4882896" y="4187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(pre-existing)</a:t>
            </a:r>
            <a:endParaRPr lang="en-US" sz="950" dirty="0"/>
          </a:p>
        </p:txBody>
      </p:sp>
      <p:sp>
        <p:nvSpPr>
          <p:cNvPr id="51" name="Text 47"/>
          <p:cNvSpPr/>
          <p:nvPr/>
        </p:nvSpPr>
        <p:spPr>
          <a:xfrm>
            <a:off x="6858000" y="41879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After wait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7626096" y="418795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yrs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4828032" y="4407408"/>
            <a:ext cx="3730752" cy="25603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0"/>
          <p:cNvSpPr/>
          <p:nvPr/>
        </p:nvSpPr>
        <p:spPr>
          <a:xfrm>
            <a:off x="4882896" y="44439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950" dirty="0"/>
          </a:p>
        </p:txBody>
      </p:sp>
      <p:sp>
        <p:nvSpPr>
          <p:cNvPr id="55" name="Text 51"/>
          <p:cNvSpPr/>
          <p:nvPr/>
        </p:nvSpPr>
        <p:spPr>
          <a:xfrm>
            <a:off x="6858000" y="44439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After wait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7626096" y="444398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yrs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4882896" y="4700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(IPD)</a:t>
            </a:r>
            <a:endParaRPr lang="en-US" sz="950" dirty="0"/>
          </a:p>
        </p:txBody>
      </p:sp>
      <p:sp>
        <p:nvSpPr>
          <p:cNvPr id="58" name="Text 54"/>
          <p:cNvSpPr/>
          <p:nvPr/>
        </p:nvSpPr>
        <p:spPr>
          <a:xfrm>
            <a:off x="6858000" y="470001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Covered</a:t>
            </a:r>
            <a:endParaRPr lang="en-US" sz="900" dirty="0"/>
          </a:p>
        </p:txBody>
      </p:sp>
      <p:sp>
        <p:nvSpPr>
          <p:cNvPr id="59" name="Text 55"/>
          <p:cNvSpPr/>
          <p:nvPr/>
        </p:nvSpPr>
        <p:spPr>
          <a:xfrm>
            <a:off x="7626096" y="4700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4828032" y="4937760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Search any disease · Filter: Included / Excluded / Waiting · Download PDF</a:t>
            </a:r>
            <a:endParaRPr lang="en-US" sz="850" dirty="0"/>
          </a:p>
        </p:txBody>
      </p:sp>
      <p:sp>
        <p:nvSpPr>
          <p:cNvPr id="61" name="Shape 57"/>
          <p:cNvSpPr/>
          <p:nvPr/>
        </p:nvSpPr>
        <p:spPr>
          <a:xfrm>
            <a:off x="502920" y="4974336"/>
            <a:ext cx="4078224" cy="347472"/>
          </a:xfrm>
          <a:prstGeom prst="rect">
            <a:avLst/>
          </a:prstGeom>
          <a:solidFill>
            <a:srgbClr val="101020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Text 58"/>
          <p:cNvSpPr/>
          <p:nvPr/>
        </p:nvSpPr>
        <p:spPr>
          <a:xfrm>
            <a:off x="640080" y="502920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Hospital data updated monthly from insurer APIs · 10,000+ hospitals India-wide · GPS + offline cache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ADVOCACY &amp; GRIEVANCE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Dispute Resolution — In-App, End to End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insurer delays, underpays, or rejects a valid claim — InsureOne fights back automatically, escalating through every channel until the customer is paid.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8229600" cy="749808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66928" y="1810512"/>
            <a:ext cx="402336" cy="402336"/>
          </a:xfrm>
          <a:prstGeom prst="ellipse">
            <a:avLst/>
          </a:prstGeom>
          <a:solidFill>
            <a:srgbClr val="14B8A6">
              <a:alpha val="82000"/>
            </a:srgbClr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6928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78992" y="17007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AUTOMATED TRACKING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" y="190195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Claim pending &gt; 48 hours without update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78992" y="208483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auto-logs formal dispute with insurer system. Customer gets reassurance WhatsApp. Internal team alerted.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0" y="17373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InsureOne AI + Bot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1975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9808" y="2377440"/>
            <a:ext cx="36576" cy="91440"/>
          </a:xfrm>
          <a:prstGeom prst="rect">
            <a:avLst/>
          </a:prstGeom>
          <a:solidFill>
            <a:srgbClr val="9090B0">
              <a:alpha val="50000"/>
            </a:srgbClr>
          </a:solidFill>
          <a:ln w="12700">
            <a:solidFill>
              <a:srgbClr val="909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02920" y="2468880"/>
            <a:ext cx="8229600" cy="749808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66928" y="2651760"/>
            <a:ext cx="402336" cy="402336"/>
          </a:xfrm>
          <a:prstGeom prst="ellipse">
            <a:avLst/>
          </a:prstGeom>
          <a:solidFill>
            <a:srgbClr val="F59E0B">
              <a:alpha val="82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6692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78992" y="2542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BROKER ADVOCACY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" y="274320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Insurer crosses 7-day SLA without resolution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78992" y="292608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Roinet's Claims Advocacy Team formally writes to the insurer's Grievance Head. Escalation ticket raised with insurer's Zonal Manager.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0" y="25786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Claims Team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2816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24 hrs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9808" y="3218688"/>
            <a:ext cx="36576" cy="91440"/>
          </a:xfrm>
          <a:prstGeom prst="rect">
            <a:avLst/>
          </a:prstGeom>
          <a:solidFill>
            <a:srgbClr val="9090B0">
              <a:alpha val="50000"/>
            </a:srgbClr>
          </a:solidFill>
          <a:ln w="12700">
            <a:solidFill>
              <a:srgbClr val="909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02920" y="3310128"/>
            <a:ext cx="8229600" cy="749808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66928" y="3493008"/>
            <a:ext cx="402336" cy="402336"/>
          </a:xfrm>
          <a:prstGeom prst="ellipse">
            <a:avLst/>
          </a:prstGeom>
          <a:solidFill>
            <a:srgbClr val="F97316">
              <a:alpha val="82000"/>
            </a:srgbClr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66928" y="3493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78992" y="33832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INSURER GRIEVANCE CELL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" y="358444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Insurer rejects or doesn't reply within 15 days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78992" y="3767328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written complaint filed with insurer's Internal Grievance Officer (IGO) — IRDAI mandated 30-day response window triggers.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34198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Roinet + Customer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3657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IRDAI SLA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9808" y="4059936"/>
            <a:ext cx="36576" cy="91440"/>
          </a:xfrm>
          <a:prstGeom prst="rect">
            <a:avLst/>
          </a:prstGeom>
          <a:solidFill>
            <a:srgbClr val="9090B0">
              <a:alpha val="50000"/>
            </a:srgbClr>
          </a:solidFill>
          <a:ln w="12700">
            <a:solidFill>
              <a:srgbClr val="9090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02920" y="4151376"/>
            <a:ext cx="8229600" cy="749808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66928" y="4334256"/>
            <a:ext cx="402336" cy="402336"/>
          </a:xfrm>
          <a:prstGeom prst="ellipse">
            <a:avLst/>
          </a:prstGeom>
          <a:solidFill>
            <a:srgbClr val="EF4444">
              <a:alpha val="82000"/>
            </a:srgbClr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66928" y="4334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78992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— IRDAI OMBUDSMAN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8992" y="442569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IGO rejects or ignores within 30 days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78992" y="460857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Ombudsman complaint filed via app or Bima Bharosa portal. Auto-generated pre-filled PDF complaint letter ready to sign. Roinet assists throughout.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66560" y="42611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+ Roinet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66560" y="4498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resolution target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 OMBUDSMAN MODULE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with IRDAI Ombudsman — In-App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insurer fails, the app auto-generates a pre-filled complaint and guides the customer through the entire Ombudsman process without legal help.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4023360" cy="309067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4864" cy="3090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76656" y="192024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Ombudsman Filing Flow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" y="2212848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steps — takes under 10 minutes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2487168"/>
            <a:ext cx="256032" cy="237744"/>
          </a:xfrm>
          <a:prstGeom prst="rect">
            <a:avLst/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" y="24963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9264" y="249631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Check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11680" y="249631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confirms: insurer IGO rejected / 30-day window lapsed + claim &lt; ₹50 lakh + within 1 yr of rejection.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" y="2834640"/>
            <a:ext cx="256032" cy="237744"/>
          </a:xfrm>
          <a:prstGeom prst="rect">
            <a:avLst/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8368" y="28437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9264" y="2843784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Jurisdiction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11680" y="284378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correct Ombudsman office based on customer's registered address (17 offices across India).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" y="3182112"/>
            <a:ext cx="256032" cy="237744"/>
          </a:xfrm>
          <a:prstGeom prst="rect">
            <a:avLst/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8368" y="319125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9264" y="319125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 Complaint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11680" y="319125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pre-populated from policy data: name, policy #, insurer, claim amount, rejection grounds, grievance history.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" y="3529584"/>
            <a:ext cx="256032" cy="237744"/>
          </a:xfrm>
          <a:prstGeom prst="rect">
            <a:avLst/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58368" y="353872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9264" y="353872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Evidence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011680" y="353872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uploads rejection letter, medical docs, FIR, bills, and prior grievance trail — all stored in document vault.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8368" y="3877056"/>
            <a:ext cx="256032" cy="237744"/>
          </a:xfrm>
          <a:prstGeom prst="rect">
            <a:avLst/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58368" y="38862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9264" y="3886200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Counter-Argument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011680" y="388620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Roinet advisor drafts the counter-argument to insurer's rejection reason — plain language, no legal jargon needed.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" y="4224528"/>
            <a:ext cx="256032" cy="237744"/>
          </a:xfrm>
          <a:prstGeom prst="rect">
            <a:avLst/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8368" y="42336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9264" y="423367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11680" y="423367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signs the complaint digitally (Aadhaar eSign or wet ink PDF). WhatsApp confirmation sent instantly.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8368" y="4572000"/>
            <a:ext cx="256032" cy="237744"/>
          </a:xfrm>
          <a:prstGeom prst="rect">
            <a:avLst/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8368" y="458114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9264" y="4581144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Track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011680" y="458114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Bima Bharosa portal (IRDAI's official system). Acknowledgement # shown in-app. Live status tracking.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1828800"/>
            <a:ext cx="4023360" cy="3090672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663440" y="1828800"/>
            <a:ext cx="54864" cy="3090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828032" y="1920240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Complaint Letter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828032" y="2212848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 PDF — customer only reviews and signs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28032" y="25054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980176" y="25054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Insurance Ombudsman, [Jurisdiction Office] — auto-selected by app.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28032" y="28529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980176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against [Insurer] for wrongful rejection of Claim ID #[Claim No.] under Policy #[Policy No.].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28032" y="32004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Facts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980176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Auto-filled: policy type, date of event, claim amount, insurer name, rejection date.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28032" y="3547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Grounds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980176" y="3547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Insurer's rejection reason auto-extracted from their letter. Roinet's counter-argument inserted here.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28032" y="3895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Prior Escalation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980176" y="38953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IGO complaint date, insurer's response (or non-response), grievance trail auto-appended.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28032" y="4242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Relief Sought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980176" y="4242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claim amount + interest for delay + reimbursement of expenses caused by wrongful rejection.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28032" y="45902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 Checklist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980176" y="4590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schedule · Rejection letter · Medical/FIR docs · Grievance history · Doctor certificate (if applicable).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02920" y="4992624"/>
            <a:ext cx="8229600" cy="347472"/>
          </a:xfrm>
          <a:prstGeom prst="rect">
            <a:avLst/>
          </a:prstGeom>
          <a:solidFill>
            <a:srgbClr val="1A0A0A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502920" y="4992624"/>
            <a:ext cx="54864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58368" y="504748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Ombudsman decisions are binding on the insurer for claims up to ₹50 lakh. The process is free for the customer. Roinet assists with every step — no lawyer needed.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COMPLAINT TOOLS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9377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Insurer Complaint + WhatsApp Escalation Bot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Ombudsman — the app handles direct insurer complaints and auto-escalates via WhatsApp when SLAs are breached.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10512"/>
            <a:ext cx="4023360" cy="2340864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54864" cy="2340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76656" y="190195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Complaint to Insurer (Levels 2 &amp; 3)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" y="2194560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directly to any insurer's Grievance Cell — from inside InsureOne.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76656" y="250545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41248" y="246888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Composer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94560" y="24688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form: select claim, reason for dispute, relief amount. System drafts the grievance letter.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6656" y="283464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1248" y="279806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 Grievance Routing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94560" y="279806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sends formal written complaint to the insurer's registered IGO email (auto-pulled from IRDAI's insurer directory).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6656" y="316382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41248" y="312724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&amp; Track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94560" y="312724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tracks insurer's mandatory 15-day acknowledgement window and 30-day resolution SLA automatically.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" y="34930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41248" y="34564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Vault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94560" y="345643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rejection letter, bills, discharge summary, or FIR directly from the in-app document vault — no email needed.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" y="382219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41248" y="37856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Roinet Co-Signs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94560" y="3785616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to send as broker-assisted complaint — Roinet's name and IRDAI license number on the letter adds formal weight.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810512"/>
            <a:ext cx="4023360" cy="2340864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663440" y="1810512"/>
            <a:ext cx="54864" cy="2340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28032" y="1901952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Escalation Bot Scripts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28032" y="2194560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messages triggered by SLA breach events.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28032" y="2505456"/>
            <a:ext cx="3730752" cy="585216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28032" y="2505456"/>
            <a:ext cx="3730752" cy="18288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82896" y="2523744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SLA Breach (Day 3)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82896" y="2724912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[Name], claim #[ID] with [Insurer] has crossed the 48-hr SLA. ⚠️ We've formally escalated to their Grievance Head. Your advocate team is on it. Track live →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28032" y="3163824"/>
            <a:ext cx="3730752" cy="585216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828032" y="3163824"/>
            <a:ext cx="3730752" cy="182880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82896" y="3182112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IGO Non-Response (Day 15)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82896" y="3383280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on claim #[ID]: The insurer hasn't acknowledged our grievance within their 15-day window. 🔴 We're escalating to the Insurer's Zonal Manager today. No action needed from you.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28032" y="3822192"/>
            <a:ext cx="3730752" cy="585216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828032" y="3822192"/>
            <a:ext cx="3730752" cy="182880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82896" y="3840480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Ombudsman Ready (Day 30)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82896" y="4041648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Ombudsman complaint is ready to file. 📄 Your pre-filled complaint letter is in the app — review and sign digitally in 2 minutes. We handle everything after that. Tap here →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2920" y="4242816"/>
            <a:ext cx="8229600" cy="36576"/>
          </a:xfrm>
          <a:prstGeom prst="rect">
            <a:avLst/>
          </a:prstGeom>
          <a:solidFill>
            <a:srgbClr val="3A3A5C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02920" y="43342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RESOLUTION JOURNEY AT A GLANCE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" y="45720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 hrs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02920" y="4901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Auto-escalation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240280" y="45720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days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2240280" y="4901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advocacy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977640" y="45720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days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3977640" y="4901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 IGO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715000" y="45720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3 months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715000" y="4901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Ombudsman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452360" y="45720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 cost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7452360" y="4901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customer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stage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47472" y="0"/>
            <a:ext cx="91440" cy="5143500"/>
          </a:xfrm>
          <a:prstGeom prst="rect">
            <a:avLst/>
          </a:prstGeom>
          <a:solidFill>
            <a:srgbClr val="D97706">
              <a:alpha val="4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8912" y="0"/>
            <a:ext cx="8705088" cy="502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58368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658368"/>
            <a:ext cx="73152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Roinet has an</a:t>
            </a:r>
            <a:endParaRPr lang="en-US" sz="5600" dirty="0"/>
          </a:p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undefended moat.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58368" y="2231136"/>
            <a:ext cx="6949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Acko sells direct policies. Policybazaar compares them. Bima Sugam is a neutral government rail.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offer a named advisor, a family PSIP, mutual fund tracking, a loans portal, soft benefits funded by the customer's own premium, or a lifetime relationship. That is Roinet's territory — before anyone else claims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3255264"/>
            <a:ext cx="6949440" cy="36576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58368" y="341985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77824" y="338328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Phase 1 (policy wallet + claims + Bima Sugam + hospital finder) in 4 months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382219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77824" y="3785616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10% premium Soft Benefits wallet + 30-day renewal nudge engine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" y="422452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77824" y="418795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open platform free tier — converting any policyholder into a Roinet customer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48463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Roinet InsureOne  ·  Full Product Blueprint  ·  May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274320"/>
            <a:ext cx="2468880" cy="2468880"/>
          </a:xfrm>
          <a:prstGeom prst="ellipse">
            <a:avLst/>
          </a:prstGeom>
          <a:solidFill>
            <a:srgbClr val="F59E0B">
              <a:alpha val="9000"/>
            </a:srgbClr>
          </a:solidFill>
          <a:ln w="19050">
            <a:solidFill>
              <a:srgbClr val="F59E0B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589520" y="1188720"/>
            <a:ext cx="1737360" cy="1737360"/>
          </a:xfrm>
          <a:prstGeom prst="ellipse">
            <a:avLst/>
          </a:prstGeom>
          <a:solidFill>
            <a:srgbClr val="14B8A6">
              <a:alpha val="8000"/>
            </a:srgbClr>
          </a:solidFill>
          <a:ln w="12700">
            <a:solidFill>
              <a:srgbClr val="14B8A6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38160" y="2011680"/>
            <a:ext cx="1005840" cy="1005840"/>
          </a:xfrm>
          <a:prstGeom prst="ellipse">
            <a:avLst/>
          </a:prstGeom>
          <a:solidFill>
            <a:srgbClr val="F59E0B">
              <a:alpha val="14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4730</Words>
  <Application>Microsoft Office PowerPoint</Application>
  <PresentationFormat>On-screen Show (16:9)</PresentationFormat>
  <Paragraphs>738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Roinet InsureOne — Customer Platform Blueprint</dc:title>
  <dc:subject>PptxGenJS Presentation</dc:subject>
  <dc:creator>PptxGenJS</dc:creator>
  <cp:lastModifiedBy>sameer kumar</cp:lastModifiedBy>
  <cp:revision>1</cp:revision>
  <dcterms:created xsi:type="dcterms:W3CDTF">2026-05-17T04:24:20Z</dcterms:created>
  <dcterms:modified xsi:type="dcterms:W3CDTF">2026-05-17T04:27:51Z</dcterms:modified>
</cp:coreProperties>
</file>